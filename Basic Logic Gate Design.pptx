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07" r:id="rId6"/>
    <p:sldId id="309" r:id="rId7"/>
    <p:sldId id="278" r:id="rId8"/>
    <p:sldId id="263" r:id="rId9"/>
    <p:sldId id="310" r:id="rId10"/>
    <p:sldId id="311" r:id="rId11"/>
    <p:sldId id="312" r:id="rId12"/>
    <p:sldId id="316" r:id="rId13"/>
    <p:sldId id="314" r:id="rId14"/>
    <p:sldId id="315" r:id="rId15"/>
    <p:sldId id="318"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8" d="100"/>
          <a:sy n="78" d="100"/>
        </p:scale>
        <p:origin x="878" y="67"/>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6/26/2026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6/26/2026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IN" b="1" dirty="0"/>
              <a:t>Basic Logic Gate Design</a:t>
            </a:r>
            <a:br>
              <a:rPr lang="en-IN" dirty="0"/>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IN" b="1" dirty="0"/>
              <a:t>Basic Logic Gate Design</a:t>
            </a:r>
            <a:endParaRPr lang="en-US" dirty="0"/>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477425283"/>
              </p:ext>
            </p:extLst>
          </p:nvPr>
        </p:nvGraphicFramePr>
        <p:xfrm>
          <a:off x="6912077" y="1995948"/>
          <a:ext cx="4148035" cy="2939847"/>
        </p:xfrm>
        <a:graphic>
          <a:graphicData uri="http://schemas.openxmlformats.org/drawingml/2006/table">
            <a:tbl>
              <a:tblPr firstRow="1" bandRow="1"/>
              <a:tblGrid>
                <a:gridCol w="4148035">
                  <a:extLst>
                    <a:ext uri="{9D8B030D-6E8A-4147-A177-3AD203B41FA5}">
                      <a16:colId xmlns:a16="http://schemas.microsoft.com/office/drawing/2014/main" val="1563570424"/>
                    </a:ext>
                  </a:extLst>
                </a:gridCol>
              </a:tblGrid>
              <a:tr h="97994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INTRODUCTION</a:t>
                      </a:r>
                      <a:endParaRPr lang="en-US" sz="2400" b="0" dirty="0">
                        <a:latin typeface="+mj-lt"/>
                        <a:cs typeface="Gill Sans Light" panose="020B0302020104020203" pitchFamily="34" charset="-79"/>
                      </a:endParaRP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79949">
                <a:tc>
                  <a:txBody>
                    <a:bodyPr/>
                    <a:lstStyle/>
                    <a:p>
                      <a:pPr algn="r"/>
                      <a:r>
                        <a:rPr lang="en-US" sz="2400" dirty="0"/>
                        <a:t>TYPES OF </a:t>
                      </a:r>
                      <a:r>
                        <a:rPr lang="en-IN" sz="2400" dirty="0"/>
                        <a:t>LOGIC GATES</a:t>
                      </a:r>
                      <a:endParaRPr lang="en-US" sz="2400" b="0" dirty="0"/>
                    </a:p>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79949">
                <a:tc>
                  <a:txBody>
                    <a:bodyPr/>
                    <a:lstStyle/>
                    <a:p>
                      <a:pPr algn="r"/>
                      <a:r>
                        <a:rPr lang="en-IN" sz="2400" dirty="0"/>
                        <a:t>CONCLUSION</a:t>
                      </a:r>
                      <a:endParaRPr lang="en-US" sz="2400" b="0" dirty="0"/>
                    </a:p>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pPr algn="ctr"/>
            <a:r>
              <a:rPr lang="en-US" dirty="0"/>
              <a:t>INTRODUCTION</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399" y="2039112"/>
            <a:ext cx="8809703" cy="3356576"/>
          </a:xfrm>
        </p:spPr>
        <p:txBody>
          <a:bodyPr>
            <a:normAutofit fontScale="92500" lnSpcReduction="10000"/>
          </a:bodyPr>
          <a:lstStyle/>
          <a:p>
            <a:pPr algn="just"/>
            <a:r>
              <a:rPr lang="en-US" dirty="0"/>
              <a:t>Logic gates are the basic building blocks of digital electronic systems. They perform logical operations on one or more binary inputs (0 and 1) to produce a single binary output. Every digital device, such as computers, calculators, smartphones, and communication systems, uses logic gates to process and control data.</a:t>
            </a:r>
          </a:p>
          <a:p>
            <a:pPr algn="just"/>
            <a:endParaRPr lang="en-US" dirty="0"/>
          </a:p>
          <a:p>
            <a:pPr algn="just"/>
            <a:r>
              <a:rPr lang="en-US" dirty="0"/>
              <a:t>The fundamental logic gates are AND, OR, and NOT, while NAND, NOR, XOR, and XNOR are derived gates with specialized functions. Understanding these gates is essential for designing digital circuits and developing modern electronic systems.</a:t>
            </a:r>
          </a:p>
          <a:p>
            <a:pPr algn="just"/>
            <a:endParaRPr lang="en-US" dirty="0"/>
          </a:p>
          <a:p>
            <a:pPr algn="just"/>
            <a:r>
              <a:rPr lang="en-US" dirty="0"/>
              <a:t>This project explains the symbols, truth tables, working principles, and practical applications of basic logic gates.</a:t>
            </a:r>
          </a:p>
        </p:txBody>
      </p:sp>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914399" y="914400"/>
            <a:ext cx="8721213" cy="914400"/>
          </a:xfrm>
        </p:spPr>
        <p:txBody>
          <a:bodyPr anchor="b"/>
          <a:lstStyle/>
          <a:p>
            <a:r>
              <a:rPr lang="en-US" sz="4800" dirty="0"/>
              <a:t>TYPES OF </a:t>
            </a:r>
            <a:r>
              <a:rPr lang="en-IN" sz="4800" dirty="0"/>
              <a:t>LOGIC GATES:</a:t>
            </a:r>
            <a:endParaRPr lang="en-US" sz="4800" dirty="0"/>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sz="quarter" idx="10"/>
          </p:nvPr>
        </p:nvSpPr>
        <p:spPr/>
        <p:txBody>
          <a:bodyPr/>
          <a:lstStyle/>
          <a:p>
            <a:pPr marL="0" indent="0" fontAlgn="base">
              <a:buNone/>
            </a:pPr>
            <a:r>
              <a:rPr lang="en-IN" dirty="0"/>
              <a:t>There are 3 types of logic gates:</a:t>
            </a:r>
          </a:p>
          <a:p>
            <a:pPr fontAlgn="base"/>
            <a:endParaRPr lang="en-IN" dirty="0"/>
          </a:p>
          <a:p>
            <a:pPr marL="457200" indent="-457200" fontAlgn="base">
              <a:buFont typeface="+mj-lt"/>
              <a:buAutoNum type="arabicPeriod"/>
            </a:pPr>
            <a:r>
              <a:rPr lang="en-IN" b="1" dirty="0"/>
              <a:t>Basic Gates </a:t>
            </a:r>
            <a:r>
              <a:rPr lang="en-IN" dirty="0"/>
              <a:t>: OR, AND, and NOT Gates.</a:t>
            </a:r>
          </a:p>
          <a:p>
            <a:pPr marL="457200" indent="-457200" fontAlgn="base">
              <a:buFont typeface="+mj-lt"/>
              <a:buAutoNum type="arabicPeriod"/>
            </a:pPr>
            <a:r>
              <a:rPr lang="en-IN" b="1" dirty="0"/>
              <a:t>Universal Gates </a:t>
            </a:r>
            <a:r>
              <a:rPr lang="en-IN" dirty="0"/>
              <a:t>: NAND, and NOR Gates.</a:t>
            </a:r>
          </a:p>
          <a:p>
            <a:pPr marL="457200" indent="-457200" fontAlgn="base">
              <a:buFont typeface="+mj-lt"/>
              <a:buAutoNum type="arabicPeriod"/>
            </a:pPr>
            <a:r>
              <a:rPr lang="en-IN" b="1" dirty="0"/>
              <a:t>Derived Gates </a:t>
            </a:r>
            <a:r>
              <a:rPr lang="en-IN" dirty="0"/>
              <a:t>: XOR Gates, and XNOR Gates.</a:t>
            </a:r>
          </a:p>
          <a:p>
            <a:endParaRPr lang="en-US" dirty="0"/>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609600"/>
            <a:ext cx="10360152" cy="963561"/>
          </a:xfrm>
        </p:spPr>
        <p:txBody>
          <a:bodyPr anchor="b">
            <a:normAutofit/>
          </a:bodyPr>
          <a:lstStyle/>
          <a:p>
            <a:pPr algn="ctr"/>
            <a:r>
              <a:rPr lang="en-US" sz="4800" dirty="0"/>
              <a:t>AND GATE</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sz="quarter" idx="13"/>
          </p:nvPr>
        </p:nvSpPr>
        <p:spPr>
          <a:xfrm>
            <a:off x="914399" y="2039111"/>
            <a:ext cx="5112775" cy="3840480"/>
          </a:xfrm>
        </p:spPr>
        <p:txBody>
          <a:bodyPr>
            <a:normAutofit/>
          </a:bodyPr>
          <a:lstStyle/>
          <a:p>
            <a:pPr marL="0" indent="0" algn="just">
              <a:buNone/>
            </a:pPr>
            <a:r>
              <a:rPr lang="en-US" cap="none" dirty="0"/>
              <a:t>An AND gate is a basic digital logic gate that produces a HIGH (1) output only when all of its inputs are HIGH (1). If any input is LOW (0), the output is LOW (0).</a:t>
            </a:r>
          </a:p>
          <a:p>
            <a:pPr marL="0" indent="0">
              <a:buNone/>
            </a:pPr>
            <a:r>
              <a:rPr lang="en-US" b="1" dirty="0"/>
              <a:t>Boolean Expression:      </a:t>
            </a:r>
            <a:r>
              <a:rPr lang="en-US" dirty="0"/>
              <a:t>Y = A · B</a:t>
            </a:r>
          </a:p>
          <a:p>
            <a:pPr marL="0" indent="0">
              <a:buNone/>
            </a:pPr>
            <a:r>
              <a:rPr lang="en-US" b="1" cap="none" dirty="0"/>
              <a:t>Applications:</a:t>
            </a:r>
          </a:p>
          <a:p>
            <a:pPr marL="342900" indent="-342900">
              <a:buFont typeface="Arial" panose="020B0604020202020204" pitchFamily="34" charset="0"/>
              <a:buChar char="•"/>
            </a:pPr>
            <a:r>
              <a:rPr lang="en-US" cap="none" dirty="0"/>
              <a:t>Digital circuits</a:t>
            </a:r>
          </a:p>
          <a:p>
            <a:pPr marL="342900" indent="-342900">
              <a:buFont typeface="Arial" panose="020B0604020202020204" pitchFamily="34" charset="0"/>
              <a:buChar char="•"/>
            </a:pPr>
            <a:r>
              <a:rPr lang="en-US" cap="none" dirty="0"/>
              <a:t>Decision-making logic</a:t>
            </a:r>
          </a:p>
          <a:p>
            <a:pPr marL="342900" indent="-342900">
              <a:buFont typeface="Arial" panose="020B0604020202020204" pitchFamily="34" charset="0"/>
              <a:buChar char="•"/>
            </a:pPr>
            <a:r>
              <a:rPr lang="en-US" cap="none" dirty="0"/>
              <a:t>Security and alarm systems</a:t>
            </a:r>
          </a:p>
          <a:p>
            <a:pPr marL="342900" indent="-342900">
              <a:buFont typeface="Arial" panose="020B0604020202020204" pitchFamily="34" charset="0"/>
              <a:buChar char="•"/>
            </a:pPr>
            <a:r>
              <a:rPr lang="en-US" cap="none" dirty="0"/>
              <a:t>Computer processors</a:t>
            </a:r>
          </a:p>
          <a:p>
            <a:endParaRPr lang="en-US" cap="none" dirty="0"/>
          </a:p>
        </p:txBody>
      </p:sp>
      <p:pic>
        <p:nvPicPr>
          <p:cNvPr id="4" name="Content Placeholder 3">
            <a:extLst>
              <a:ext uri="{FF2B5EF4-FFF2-40B4-BE49-F238E27FC236}">
                <a16:creationId xmlns:a16="http://schemas.microsoft.com/office/drawing/2014/main" id="{95DDFE9C-63CD-BC67-5CCC-3AFEA9BBFE34}"/>
              </a:ext>
            </a:extLst>
          </p:cNvPr>
          <p:cNvPicPr>
            <a:picLocks noGrp="1" noChangeAspect="1"/>
          </p:cNvPicPr>
          <p:nvPr>
            <p:ph sz="quarter" idx="12"/>
          </p:nvPr>
        </p:nvPicPr>
        <p:blipFill>
          <a:blip r:embed="rId3"/>
          <a:srcRect b="16209"/>
          <a:stretch>
            <a:fillRect/>
          </a:stretch>
        </p:blipFill>
        <p:spPr>
          <a:xfrm>
            <a:off x="6164828" y="2907034"/>
            <a:ext cx="5017443" cy="2104634"/>
          </a:xfrm>
          <a:prstGeom prst="rect">
            <a:avLst/>
          </a:prstGeom>
        </p:spPr>
      </p:pic>
      <p:sp>
        <p:nvSpPr>
          <p:cNvPr id="22" name="Slide Number Placeholder 4">
            <a:extLst>
              <a:ext uri="{FF2B5EF4-FFF2-40B4-BE49-F238E27FC236}">
                <a16:creationId xmlns:a16="http://schemas.microsoft.com/office/drawing/2014/main" id="{E78903B3-56F0-FA40-65D9-52F628F89CF2}"/>
              </a:ext>
            </a:extLst>
          </p:cNvPr>
          <p:cNvSpPr>
            <a:spLocks noGrp="1"/>
          </p:cNvSpPr>
          <p:nvPr>
            <p:ph type="sldNum" sz="quarter" idx="4"/>
          </p:nvPr>
        </p:nvSpPr>
        <p:spPr>
          <a:xfrm>
            <a:off x="11353800" y="5879804"/>
            <a:ext cx="661416" cy="895899"/>
          </a:xfrm>
        </p:spPr>
        <p:txBody>
          <a:bodyPr/>
          <a:lstStyle/>
          <a:p>
            <a:pPr>
              <a:spcAft>
                <a:spcPts val="600"/>
              </a:spcAft>
            </a:pPr>
            <a:endParaRPr lang="en-US" dirty="0"/>
          </a:p>
        </p:txBody>
      </p:sp>
    </p:spTree>
    <p:extLst>
      <p:ext uri="{BB962C8B-B14F-4D97-AF65-F5344CB8AC3E}">
        <p14:creationId xmlns:p14="http://schemas.microsoft.com/office/powerpoint/2010/main" val="109671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914400" y="609600"/>
            <a:ext cx="10360152" cy="953729"/>
          </a:xfrm>
        </p:spPr>
        <p:txBody>
          <a:bodyPr/>
          <a:lstStyle/>
          <a:p>
            <a:pPr algn="ctr"/>
            <a:r>
              <a:rPr lang="en-US" sz="4800" dirty="0"/>
              <a:t>OR</a:t>
            </a:r>
            <a:r>
              <a:rPr lang="en-US" dirty="0"/>
              <a:t> </a:t>
            </a:r>
            <a:r>
              <a:rPr lang="en-US" sz="4800" dirty="0"/>
              <a:t>GATE</a:t>
            </a:r>
            <a:endParaRPr lang="en-US"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5406013" cy="3877055"/>
          </a:xfrm>
        </p:spPr>
        <p:txBody>
          <a:bodyPr/>
          <a:lstStyle/>
          <a:p>
            <a:pPr algn="just"/>
            <a:r>
              <a:rPr lang="en-US" dirty="0"/>
              <a:t>An OR gate is a basic logic gate that produces a HIGH (1) output if at least one input is HIGH (1). The output is LOW (0) only when all inputs are LOW (0).</a:t>
            </a:r>
          </a:p>
          <a:p>
            <a:r>
              <a:rPr lang="en-US" b="1" dirty="0"/>
              <a:t>Boolean Expression: </a:t>
            </a:r>
            <a:r>
              <a:rPr lang="en-US" dirty="0"/>
              <a:t> Y = A + B</a:t>
            </a:r>
          </a:p>
          <a:p>
            <a:r>
              <a:rPr lang="en-US" b="1" dirty="0"/>
              <a:t>Applications:</a:t>
            </a:r>
          </a:p>
          <a:p>
            <a:r>
              <a:rPr lang="en-US" dirty="0"/>
              <a:t>Alarm systems</a:t>
            </a:r>
          </a:p>
          <a:p>
            <a:r>
              <a:rPr lang="en-US" dirty="0"/>
              <a:t>Decision-making circuits</a:t>
            </a:r>
          </a:p>
          <a:p>
            <a:r>
              <a:rPr lang="en-US" dirty="0"/>
              <a:t>Control systems</a:t>
            </a:r>
          </a:p>
        </p:txBody>
      </p:sp>
      <p:pic>
        <p:nvPicPr>
          <p:cNvPr id="4" name="Content Placeholder 3">
            <a:extLst>
              <a:ext uri="{FF2B5EF4-FFF2-40B4-BE49-F238E27FC236}">
                <a16:creationId xmlns:a16="http://schemas.microsoft.com/office/drawing/2014/main" id="{6F6F543D-DDBB-84F5-5BC5-51304647CF71}"/>
              </a:ext>
            </a:extLst>
          </p:cNvPr>
          <p:cNvPicPr>
            <a:picLocks noGrp="1" noChangeAspect="1"/>
          </p:cNvPicPr>
          <p:nvPr>
            <p:ph sz="quarter" idx="12"/>
          </p:nvPr>
        </p:nvPicPr>
        <p:blipFill>
          <a:blip r:embed="rId3"/>
          <a:srcRect b="19666"/>
          <a:stretch>
            <a:fillRect/>
          </a:stretch>
        </p:blipFill>
        <p:spPr>
          <a:xfrm>
            <a:off x="6528760" y="2607854"/>
            <a:ext cx="4576762" cy="2436418"/>
          </a:xfrm>
          <a:prstGeom prst="rect">
            <a:avLst/>
          </a:prstGeom>
        </p:spPr>
      </p:pic>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endParaRPr lang="en-US" dirty="0"/>
          </a:p>
        </p:txBody>
      </p:sp>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914400" y="353961"/>
            <a:ext cx="10360152" cy="1032387"/>
          </a:xfrm>
        </p:spPr>
        <p:txBody>
          <a:bodyPr/>
          <a:lstStyle/>
          <a:p>
            <a:pPr algn="ctr"/>
            <a:r>
              <a:rPr lang="en-US" sz="4800" dirty="0"/>
              <a:t>NOT GATE</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914398" y="2039112"/>
            <a:ext cx="4955461" cy="3904488"/>
          </a:xfrm>
        </p:spPr>
        <p:txBody>
          <a:bodyPr/>
          <a:lstStyle/>
          <a:p>
            <a:pPr marL="0" indent="0" algn="just">
              <a:buNone/>
            </a:pPr>
            <a:r>
              <a:rPr lang="en-US" dirty="0"/>
              <a:t>A NOT gate (Inverter) produces the opposite of its input. It converts 1 to 0 and 0 to 1.</a:t>
            </a:r>
          </a:p>
          <a:p>
            <a:pPr marL="0" indent="0">
              <a:buNone/>
            </a:pPr>
            <a:r>
              <a:rPr lang="en-US" b="1" dirty="0"/>
              <a:t>Boolean Expression: </a:t>
            </a:r>
            <a:r>
              <a:rPr lang="en-US" dirty="0"/>
              <a:t>Y = A'</a:t>
            </a:r>
          </a:p>
          <a:p>
            <a:pPr marL="0" indent="0">
              <a:buNone/>
            </a:pPr>
            <a:r>
              <a:rPr lang="en-US" b="1" dirty="0"/>
              <a:t>Applications:</a:t>
            </a:r>
          </a:p>
          <a:p>
            <a:pPr marL="342900" indent="-342900">
              <a:buFont typeface="Arial" panose="020B0604020202020204" pitchFamily="34" charset="0"/>
              <a:buChar char="•"/>
            </a:pPr>
            <a:r>
              <a:rPr lang="en-US" dirty="0"/>
              <a:t>Signal inversion</a:t>
            </a:r>
          </a:p>
          <a:p>
            <a:pPr marL="342900" indent="-342900">
              <a:buFont typeface="Arial" panose="020B0604020202020204" pitchFamily="34" charset="0"/>
              <a:buChar char="•"/>
            </a:pPr>
            <a:r>
              <a:rPr lang="en-US" dirty="0"/>
              <a:t>Digital switching</a:t>
            </a:r>
          </a:p>
          <a:p>
            <a:pPr marL="342900" indent="-342900">
              <a:buFont typeface="Arial" panose="020B0604020202020204" pitchFamily="34" charset="0"/>
              <a:buChar char="•"/>
            </a:pPr>
            <a:r>
              <a:rPr lang="en-US" dirty="0"/>
              <a:t>Memory circuits</a:t>
            </a:r>
          </a:p>
        </p:txBody>
      </p:sp>
      <p:pic>
        <p:nvPicPr>
          <p:cNvPr id="3" name="Content Placeholder 2">
            <a:extLst>
              <a:ext uri="{FF2B5EF4-FFF2-40B4-BE49-F238E27FC236}">
                <a16:creationId xmlns:a16="http://schemas.microsoft.com/office/drawing/2014/main" id="{DEFB2E93-3881-1ADE-1294-B1CD9E981D68}"/>
              </a:ext>
            </a:extLst>
          </p:cNvPr>
          <p:cNvPicPr>
            <a:picLocks noGrp="1" noChangeAspect="1"/>
          </p:cNvPicPr>
          <p:nvPr>
            <p:ph sz="quarter" idx="12"/>
          </p:nvPr>
        </p:nvPicPr>
        <p:blipFill>
          <a:blip r:embed="rId3"/>
          <a:srcRect b="20280"/>
          <a:stretch>
            <a:fillRect/>
          </a:stretch>
        </p:blipFill>
        <p:spPr>
          <a:xfrm>
            <a:off x="5985570" y="2320413"/>
            <a:ext cx="5531179" cy="2635045"/>
          </a:xfrm>
          <a:prstGeom prst="rect">
            <a:avLst/>
          </a:prstGeom>
        </p:spPr>
      </p:pic>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endParaRPr lang="en-US" dirty="0"/>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914399" y="471948"/>
            <a:ext cx="10363201" cy="1012724"/>
          </a:xfrm>
        </p:spPr>
        <p:txBody>
          <a:bodyPr/>
          <a:lstStyle/>
          <a:p>
            <a:pPr algn="ctr"/>
            <a:r>
              <a:rPr lang="en-US" sz="4800" dirty="0"/>
              <a:t>NAND GATE</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5650992" cy="3904488"/>
          </a:xfrm>
        </p:spPr>
        <p:txBody>
          <a:bodyPr/>
          <a:lstStyle/>
          <a:p>
            <a:r>
              <a:rPr lang="en-US" dirty="0"/>
              <a:t>A NAND gate is the complement of the AND gate. It gives a LOW (0) output only when all inputs are HIGH (1).</a:t>
            </a:r>
          </a:p>
          <a:p>
            <a:r>
              <a:rPr lang="en-US" b="1" dirty="0"/>
              <a:t>Boolean Expression: </a:t>
            </a:r>
            <a:r>
              <a:rPr lang="en-US" dirty="0"/>
              <a:t>Y = (A · B)'</a:t>
            </a:r>
          </a:p>
          <a:p>
            <a:r>
              <a:rPr lang="en-US" b="1" dirty="0"/>
              <a:t>Applications:</a:t>
            </a:r>
          </a:p>
          <a:p>
            <a:pPr marL="342900" indent="-342900">
              <a:buFont typeface="Arial" panose="020B0604020202020204" pitchFamily="34" charset="0"/>
              <a:buChar char="•"/>
            </a:pPr>
            <a:r>
              <a:rPr lang="en-US" dirty="0"/>
              <a:t>Universal logic gate</a:t>
            </a:r>
          </a:p>
          <a:p>
            <a:pPr marL="342900" indent="-342900">
              <a:buFont typeface="Arial" panose="020B0604020202020204" pitchFamily="34" charset="0"/>
              <a:buChar char="•"/>
            </a:pPr>
            <a:r>
              <a:rPr lang="en-US" dirty="0"/>
              <a:t>Digital circuit design</a:t>
            </a:r>
          </a:p>
          <a:p>
            <a:pPr marL="342900" indent="-342900">
              <a:buFont typeface="Arial" panose="020B0604020202020204" pitchFamily="34" charset="0"/>
              <a:buChar char="•"/>
            </a:pPr>
            <a:r>
              <a:rPr lang="en-US" dirty="0"/>
              <a:t>Flip-flops</a:t>
            </a:r>
          </a:p>
        </p:txBody>
      </p:sp>
      <p:pic>
        <p:nvPicPr>
          <p:cNvPr id="6" name="Picture 5">
            <a:extLst>
              <a:ext uri="{FF2B5EF4-FFF2-40B4-BE49-F238E27FC236}">
                <a16:creationId xmlns:a16="http://schemas.microsoft.com/office/drawing/2014/main" id="{3A5C52C1-81BD-60BC-A4FF-E5FA4DACF1C2}"/>
              </a:ext>
            </a:extLst>
          </p:cNvPr>
          <p:cNvPicPr>
            <a:picLocks noChangeAspect="1"/>
          </p:cNvPicPr>
          <p:nvPr/>
        </p:nvPicPr>
        <p:blipFill>
          <a:blip r:embed="rId3">
            <a:extLst>
              <a:ext uri="{28A0092B-C50C-407E-A947-70E740481C1C}">
                <a14:useLocalDpi xmlns:a14="http://schemas.microsoft.com/office/drawing/2010/main" val="0"/>
              </a:ext>
            </a:extLst>
          </a:blip>
          <a:srcRect b="20864"/>
          <a:stretch>
            <a:fillRect/>
          </a:stretch>
        </p:blipFill>
        <p:spPr>
          <a:xfrm>
            <a:off x="5546726" y="2816141"/>
            <a:ext cx="5730875" cy="2906396"/>
          </a:xfrm>
          <a:prstGeom prst="rect">
            <a:avLst/>
          </a:prstGeom>
        </p:spPr>
      </p:pic>
      <p:sp>
        <p:nvSpPr>
          <p:cNvPr id="7" name="Slide Number Placeholder 6">
            <a:extLst>
              <a:ext uri="{FF2B5EF4-FFF2-40B4-BE49-F238E27FC236}">
                <a16:creationId xmlns:a16="http://schemas.microsoft.com/office/drawing/2014/main" id="{1E0EE3A5-CD18-3733-8ED0-974EE4288213}"/>
              </a:ext>
            </a:extLst>
          </p:cNvPr>
          <p:cNvSpPr>
            <a:spLocks noGrp="1"/>
          </p:cNvSpPr>
          <p:nvPr>
            <p:ph type="sldNum" sz="quarter" idx="4"/>
          </p:nvPr>
        </p:nvSpPr>
        <p:spPr/>
        <p:txBody>
          <a:bodyPr/>
          <a:lstStyle/>
          <a:p>
            <a:endParaRPr lang="en-US" dirty="0"/>
          </a:p>
        </p:txBody>
      </p:sp>
    </p:spTree>
    <p:extLst>
      <p:ext uri="{BB962C8B-B14F-4D97-AF65-F5344CB8AC3E}">
        <p14:creationId xmlns:p14="http://schemas.microsoft.com/office/powerpoint/2010/main" val="85990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914400" y="580104"/>
            <a:ext cx="10360152" cy="889820"/>
          </a:xfrm>
        </p:spPr>
        <p:txBody>
          <a:bodyPr/>
          <a:lstStyle/>
          <a:p>
            <a:pPr algn="ctr"/>
            <a:r>
              <a:rPr lang="en-US" sz="4800" dirty="0"/>
              <a:t>NOR GATE</a:t>
            </a:r>
          </a:p>
        </p:txBody>
      </p:sp>
      <p:sp>
        <p:nvSpPr>
          <p:cNvPr id="3" name="Content Placeholder 2">
            <a:extLst>
              <a:ext uri="{FF2B5EF4-FFF2-40B4-BE49-F238E27FC236}">
                <a16:creationId xmlns:a16="http://schemas.microsoft.com/office/drawing/2014/main" id="{CF3ADB94-FC21-07C5-1FC9-E729C5DEDFC6}"/>
              </a:ext>
            </a:extLst>
          </p:cNvPr>
          <p:cNvSpPr>
            <a:spLocks noGrp="1"/>
          </p:cNvSpPr>
          <p:nvPr>
            <p:ph sz="quarter" idx="12"/>
          </p:nvPr>
        </p:nvSpPr>
        <p:spPr>
          <a:xfrm>
            <a:off x="914400" y="2039111"/>
            <a:ext cx="4875039" cy="3840480"/>
          </a:xfrm>
        </p:spPr>
        <p:txBody>
          <a:bodyPr/>
          <a:lstStyle/>
          <a:p>
            <a:pPr algn="just"/>
            <a:r>
              <a:rPr lang="en-US" dirty="0"/>
              <a:t>A NOR gate is the complement of the OR gate. It gives a HIGH (1) output only when all inputs are LOW (0).</a:t>
            </a:r>
          </a:p>
          <a:p>
            <a:r>
              <a:rPr lang="en-US" b="1" dirty="0"/>
              <a:t>Boolean Expression: </a:t>
            </a:r>
            <a:r>
              <a:rPr lang="en-US" dirty="0"/>
              <a:t>Y = (A + B)'</a:t>
            </a:r>
          </a:p>
          <a:p>
            <a:r>
              <a:rPr lang="en-US" b="1" dirty="0"/>
              <a:t>Applications:</a:t>
            </a:r>
          </a:p>
          <a:p>
            <a:pPr marL="342900" indent="-342900">
              <a:buFont typeface="Arial" panose="020B0604020202020204" pitchFamily="34" charset="0"/>
              <a:buChar char="•"/>
            </a:pPr>
            <a:r>
              <a:rPr lang="en-US" dirty="0"/>
              <a:t>Universal logic gate</a:t>
            </a:r>
          </a:p>
          <a:p>
            <a:pPr marL="342900" indent="-342900">
              <a:buFont typeface="Arial" panose="020B0604020202020204" pitchFamily="34" charset="0"/>
              <a:buChar char="•"/>
            </a:pPr>
            <a:r>
              <a:rPr lang="en-US" dirty="0"/>
              <a:t>Memory circuits</a:t>
            </a:r>
          </a:p>
          <a:p>
            <a:pPr marL="342900" indent="-342900">
              <a:buFont typeface="Arial" panose="020B0604020202020204" pitchFamily="34" charset="0"/>
              <a:buChar char="•"/>
            </a:pPr>
            <a:r>
              <a:rPr lang="en-US" dirty="0"/>
              <a:t>Control systems</a:t>
            </a:r>
          </a:p>
          <a:p>
            <a:endParaRPr lang="en-US" dirty="0"/>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endParaRPr lang="en-US" dirty="0"/>
          </a:p>
        </p:txBody>
      </p:sp>
      <p:pic>
        <p:nvPicPr>
          <p:cNvPr id="7" name="Content Placeholder 6">
            <a:extLst>
              <a:ext uri="{FF2B5EF4-FFF2-40B4-BE49-F238E27FC236}">
                <a16:creationId xmlns:a16="http://schemas.microsoft.com/office/drawing/2014/main" id="{8386F3FA-76F3-17F8-B67B-12B86F0F933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b="21277"/>
          <a:stretch>
            <a:fillRect/>
          </a:stretch>
        </p:blipFill>
        <p:spPr bwMode="auto">
          <a:xfrm>
            <a:off x="6096000" y="2721372"/>
            <a:ext cx="4951413" cy="2666705"/>
          </a:xfrm>
          <a:prstGeom prst="rect">
            <a:avLst/>
          </a:prstGeom>
          <a:noFill/>
        </p:spPr>
      </p:pic>
    </p:spTree>
    <p:extLst>
      <p:ext uri="{BB962C8B-B14F-4D97-AF65-F5344CB8AC3E}">
        <p14:creationId xmlns:p14="http://schemas.microsoft.com/office/powerpoint/2010/main" val="53780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914400" y="511278"/>
            <a:ext cx="10360152" cy="1052052"/>
          </a:xfrm>
        </p:spPr>
        <p:txBody>
          <a:bodyPr/>
          <a:lstStyle/>
          <a:p>
            <a:pPr algn="ctr"/>
            <a:r>
              <a:rPr lang="en-US" sz="4800" dirty="0"/>
              <a:t>XOR GATE</a:t>
            </a:r>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914399" y="2039111"/>
            <a:ext cx="5181601" cy="3840480"/>
          </a:xfrm>
        </p:spPr>
        <p:txBody>
          <a:bodyPr>
            <a:normAutofit/>
          </a:bodyPr>
          <a:lstStyle/>
          <a:p>
            <a:pPr marL="0" indent="0" algn="just">
              <a:buNone/>
            </a:pPr>
            <a:r>
              <a:rPr lang="en-US" cap="none" dirty="0"/>
              <a:t>An XOR (exclusive OR) gate produces a HIGH (1) output when the inputs are different.</a:t>
            </a:r>
          </a:p>
          <a:p>
            <a:pPr marL="0" indent="0">
              <a:buNone/>
            </a:pPr>
            <a:r>
              <a:rPr lang="en-US" b="1" cap="none" dirty="0"/>
              <a:t>Boolean expression: </a:t>
            </a:r>
            <a:r>
              <a:rPr lang="en-US" cap="none" dirty="0"/>
              <a:t>Y = A ⊕ B</a:t>
            </a:r>
          </a:p>
          <a:p>
            <a:pPr marL="0" indent="0">
              <a:buNone/>
            </a:pPr>
            <a:r>
              <a:rPr lang="en-US" b="1" cap="none" dirty="0"/>
              <a:t>Applications:</a:t>
            </a:r>
          </a:p>
          <a:p>
            <a:pPr>
              <a:buFont typeface="Arial" panose="020B0604020202020204" pitchFamily="34" charset="0"/>
              <a:buChar char="•"/>
            </a:pPr>
            <a:r>
              <a:rPr lang="en-US" cap="none" dirty="0"/>
              <a:t>Binary addition</a:t>
            </a:r>
          </a:p>
          <a:p>
            <a:pPr>
              <a:buFont typeface="Arial" panose="020B0604020202020204" pitchFamily="34" charset="0"/>
              <a:buChar char="•"/>
            </a:pPr>
            <a:r>
              <a:rPr lang="en-US" cap="none" dirty="0"/>
              <a:t>Error detection</a:t>
            </a:r>
          </a:p>
          <a:p>
            <a:pPr>
              <a:buFont typeface="Arial" panose="020B0604020202020204" pitchFamily="34" charset="0"/>
              <a:buChar char="•"/>
            </a:pPr>
            <a:r>
              <a:rPr lang="en-US" cap="none" dirty="0"/>
              <a:t>Comparators</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endParaRPr lang="en-US" dirty="0"/>
          </a:p>
        </p:txBody>
      </p:sp>
      <p:pic>
        <p:nvPicPr>
          <p:cNvPr id="2" name="Content Placeholder 1">
            <a:extLst>
              <a:ext uri="{FF2B5EF4-FFF2-40B4-BE49-F238E27FC236}">
                <a16:creationId xmlns:a16="http://schemas.microsoft.com/office/drawing/2014/main" id="{BF116121-568C-5E39-B38A-EF0E98104328}"/>
              </a:ext>
            </a:extLst>
          </p:cNvPr>
          <p:cNvPicPr>
            <a:picLocks noGrp="1" noChangeAspect="1"/>
          </p:cNvPicPr>
          <p:nvPr>
            <p:ph sz="quarter" idx="12"/>
          </p:nvPr>
        </p:nvPicPr>
        <p:blipFill>
          <a:blip r:embed="rId3">
            <a:extLst>
              <a:ext uri="{28A0092B-C50C-407E-A947-70E740481C1C}">
                <a14:useLocalDpi xmlns:a14="http://schemas.microsoft.com/office/drawing/2010/main" val="0"/>
              </a:ext>
            </a:extLst>
          </a:blip>
          <a:srcRect b="21340"/>
          <a:stretch>
            <a:fillRect/>
          </a:stretch>
        </p:blipFill>
        <p:spPr bwMode="auto">
          <a:xfrm>
            <a:off x="6437440" y="2297770"/>
            <a:ext cx="4837112" cy="2565631"/>
          </a:xfrm>
          <a:prstGeom prst="rect">
            <a:avLst/>
          </a:prstGeom>
          <a:noFill/>
        </p:spPr>
      </p:pic>
    </p:spTree>
    <p:extLst>
      <p:ext uri="{BB962C8B-B14F-4D97-AF65-F5344CB8AC3E}">
        <p14:creationId xmlns:p14="http://schemas.microsoft.com/office/powerpoint/2010/main" val="4132147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914400" y="560440"/>
            <a:ext cx="10360152" cy="983226"/>
          </a:xfrm>
        </p:spPr>
        <p:txBody>
          <a:bodyPr/>
          <a:lstStyle/>
          <a:p>
            <a:pPr algn="ctr"/>
            <a:r>
              <a:rPr lang="en-US" sz="4800" dirty="0"/>
              <a:t>XNOR GATE</a:t>
            </a:r>
          </a:p>
        </p:txBody>
      </p:sp>
      <p:sp>
        <p:nvSpPr>
          <p:cNvPr id="9" name="Content Placeholder 8">
            <a:extLst>
              <a:ext uri="{FF2B5EF4-FFF2-40B4-BE49-F238E27FC236}">
                <a16:creationId xmlns:a16="http://schemas.microsoft.com/office/drawing/2014/main" id="{05E9B19B-0729-11E4-3AB9-B456BD325BCF}"/>
              </a:ext>
            </a:extLst>
          </p:cNvPr>
          <p:cNvSpPr>
            <a:spLocks noGrp="1"/>
          </p:cNvSpPr>
          <p:nvPr>
            <p:ph sz="quarter" idx="12"/>
          </p:nvPr>
        </p:nvSpPr>
        <p:spPr>
          <a:xfrm>
            <a:off x="914401" y="2039112"/>
            <a:ext cx="5181599" cy="3877055"/>
          </a:xfrm>
        </p:spPr>
        <p:txBody>
          <a:bodyPr/>
          <a:lstStyle/>
          <a:p>
            <a:pPr algn="just"/>
            <a:r>
              <a:rPr lang="en-US" dirty="0"/>
              <a:t>An XNOR gate produces a HIGH (1) output when the inputs are the same.</a:t>
            </a:r>
          </a:p>
          <a:p>
            <a:r>
              <a:rPr lang="en-US" b="1" dirty="0"/>
              <a:t>Boolean Expression: </a:t>
            </a:r>
            <a:r>
              <a:rPr lang="en-US" dirty="0"/>
              <a:t>Y = (A ⊕ B)'</a:t>
            </a:r>
          </a:p>
          <a:p>
            <a:r>
              <a:rPr lang="en-US" b="1" dirty="0"/>
              <a:t>Applications:</a:t>
            </a:r>
          </a:p>
          <a:p>
            <a:pPr marL="342900" indent="-342900">
              <a:buFont typeface="Arial" panose="020B0604020202020204" pitchFamily="34" charset="0"/>
              <a:buChar char="•"/>
            </a:pPr>
            <a:r>
              <a:rPr lang="en-US" dirty="0"/>
              <a:t>Equality checking</a:t>
            </a:r>
          </a:p>
          <a:p>
            <a:pPr marL="342900" indent="-342900">
              <a:buFont typeface="Arial" panose="020B0604020202020204" pitchFamily="34" charset="0"/>
              <a:buChar char="•"/>
            </a:pPr>
            <a:r>
              <a:rPr lang="en-US" dirty="0"/>
              <a:t>Digital comparators</a:t>
            </a:r>
          </a:p>
          <a:p>
            <a:pPr marL="342900" indent="-342900">
              <a:buFont typeface="Arial" panose="020B0604020202020204" pitchFamily="34" charset="0"/>
              <a:buChar char="•"/>
            </a:pPr>
            <a:r>
              <a:rPr lang="en-US" dirty="0"/>
              <a:t>Error detection</a:t>
            </a:r>
            <a:endParaRPr lang="en-IN" dirty="0"/>
          </a:p>
        </p:txBody>
      </p:sp>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p:txBody>
          <a:bodyPr/>
          <a:lstStyle/>
          <a:p>
            <a:endParaRPr lang="en-US" dirty="0"/>
          </a:p>
        </p:txBody>
      </p:sp>
      <p:pic>
        <p:nvPicPr>
          <p:cNvPr id="11" name="Content Placeholder 10">
            <a:extLst>
              <a:ext uri="{FF2B5EF4-FFF2-40B4-BE49-F238E27FC236}">
                <a16:creationId xmlns:a16="http://schemas.microsoft.com/office/drawing/2014/main" id="{46063228-228B-8044-6D54-DD0AA505F95A}"/>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rcRect/>
          <a:stretch>
            <a:fillRect/>
          </a:stretch>
        </p:blipFill>
        <p:spPr bwMode="auto">
          <a:xfrm>
            <a:off x="6430945" y="2833448"/>
            <a:ext cx="4576763" cy="2288381"/>
          </a:xfrm>
          <a:prstGeom prst="rect">
            <a:avLst/>
          </a:prstGeom>
          <a:noFill/>
        </p:spPr>
      </p:pic>
    </p:spTree>
    <p:extLst>
      <p:ext uri="{BB962C8B-B14F-4D97-AF65-F5344CB8AC3E}">
        <p14:creationId xmlns:p14="http://schemas.microsoft.com/office/powerpoint/2010/main" val="3064996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0D4A-2B75-7199-AE59-74513E274D42}"/>
              </a:ext>
            </a:extLst>
          </p:cNvPr>
          <p:cNvSpPr>
            <a:spLocks noGrp="1"/>
          </p:cNvSpPr>
          <p:nvPr>
            <p:ph type="title"/>
          </p:nvPr>
        </p:nvSpPr>
        <p:spPr>
          <a:xfrm>
            <a:off x="914399" y="648929"/>
            <a:ext cx="10019071" cy="1179871"/>
          </a:xfrm>
        </p:spPr>
        <p:txBody>
          <a:bodyPr/>
          <a:lstStyle/>
          <a:p>
            <a:pPr algn="ctr"/>
            <a:r>
              <a:rPr lang="en-IN" sz="4800" dirty="0"/>
              <a:t>CONCLUSION</a:t>
            </a:r>
          </a:p>
        </p:txBody>
      </p:sp>
      <p:sp>
        <p:nvSpPr>
          <p:cNvPr id="7" name="Content Placeholder 6">
            <a:extLst>
              <a:ext uri="{FF2B5EF4-FFF2-40B4-BE49-F238E27FC236}">
                <a16:creationId xmlns:a16="http://schemas.microsoft.com/office/drawing/2014/main" id="{A9CA5416-227A-0C6C-6107-C466F42A09FD}"/>
              </a:ext>
            </a:extLst>
          </p:cNvPr>
          <p:cNvSpPr>
            <a:spLocks noGrp="1"/>
          </p:cNvSpPr>
          <p:nvPr>
            <p:ph sz="quarter" idx="10"/>
          </p:nvPr>
        </p:nvSpPr>
        <p:spPr>
          <a:xfrm>
            <a:off x="914400" y="2241754"/>
            <a:ext cx="9910916" cy="3153933"/>
          </a:xfrm>
        </p:spPr>
        <p:txBody>
          <a:bodyPr>
            <a:normAutofit/>
          </a:bodyPr>
          <a:lstStyle/>
          <a:p>
            <a:pPr marL="0" indent="0" algn="just">
              <a:buNone/>
            </a:pPr>
            <a:r>
              <a:rPr lang="en-US" sz="2200" dirty="0"/>
              <a:t>Basic logic gates are the foundation of all digital electronic systems. Understanding the operation, truth tables, and applications of AND, OR, NOT, NAND, NOR, XOR, and XNOR gates is essential for designing digital circuits. These gates are widely used in computers, communication systems, embedded systems, and modern electronic devices.</a:t>
            </a:r>
            <a:endParaRPr lang="en-IN" sz="2200" dirty="0"/>
          </a:p>
        </p:txBody>
      </p:sp>
      <p:sp>
        <p:nvSpPr>
          <p:cNvPr id="5" name="Slide Number Placeholder 4">
            <a:extLst>
              <a:ext uri="{FF2B5EF4-FFF2-40B4-BE49-F238E27FC236}">
                <a16:creationId xmlns:a16="http://schemas.microsoft.com/office/drawing/2014/main" id="{0BF2C20D-E591-75E9-2483-2C5C6710B9EC}"/>
              </a:ext>
            </a:extLst>
          </p:cNvPr>
          <p:cNvSpPr>
            <a:spLocks noGrp="1"/>
          </p:cNvSpPr>
          <p:nvPr>
            <p:ph type="sldNum" sz="quarter" idx="4"/>
          </p:nvPr>
        </p:nvSpPr>
        <p:spPr/>
        <p:txBody>
          <a:bodyPr/>
          <a:lstStyle/>
          <a:p>
            <a:endParaRPr lang="en-US" dirty="0"/>
          </a:p>
        </p:txBody>
      </p:sp>
    </p:spTree>
    <p:extLst>
      <p:ext uri="{BB962C8B-B14F-4D97-AF65-F5344CB8AC3E}">
        <p14:creationId xmlns:p14="http://schemas.microsoft.com/office/powerpoint/2010/main" val="2800123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914400" y="1907458"/>
            <a:ext cx="9802368" cy="4036142"/>
          </a:xfrm>
        </p:spPr>
        <p:txBody>
          <a:bodyPr/>
          <a:lstStyle/>
          <a:p>
            <a:pPr algn="ctr"/>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{AEC14759-0ED8-4C18-8828-4495742CFF85}TF1ed9553b-00c4-4092-846a-c8f7f2908f3beecd942f_win32-8e33096c3cfc</Template>
  <TotalTime>60</TotalTime>
  <Words>595</Words>
  <Application>Microsoft Office PowerPoint</Application>
  <PresentationFormat>Widescreen</PresentationFormat>
  <Paragraphs>81</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Gill Sans Nova Light</vt:lpstr>
      <vt:lpstr>Sagona Book</vt:lpstr>
      <vt:lpstr>Custom</vt:lpstr>
      <vt:lpstr>Basic Logic Gate Design </vt:lpstr>
      <vt:lpstr>Basic Logic Gate Design</vt:lpstr>
      <vt:lpstr>INTRODUCTION</vt:lpstr>
      <vt:lpstr>TYPES OF LOGIC GATES:</vt:lpstr>
      <vt:lpstr>AND GATE</vt:lpstr>
      <vt:lpstr>OR GATE</vt:lpstr>
      <vt:lpstr>NOT GATE</vt:lpstr>
      <vt:lpstr>NAND GATE</vt:lpstr>
      <vt:lpstr>NOR GATE</vt:lpstr>
      <vt:lpstr>XOR GATE</vt:lpstr>
      <vt:lpstr>XNOR GATE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nandini gomavarapu</dc:creator>
  <cp:lastModifiedBy>nandini gomavarapu</cp:lastModifiedBy>
  <cp:revision>1</cp:revision>
  <dcterms:created xsi:type="dcterms:W3CDTF">2026-06-26T09:17:47Z</dcterms:created>
  <dcterms:modified xsi:type="dcterms:W3CDTF">2026-06-26T10:18:10Z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